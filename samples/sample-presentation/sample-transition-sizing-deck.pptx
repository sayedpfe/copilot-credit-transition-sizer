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Copilot Credit Transition Sizer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9D4E0"/>
                </a:solidFill>
                <a:latin typeface="Calibri"/>
              </a:rPr>
              <a:t>Size the Copilot Credit purchase from actual usage — before seeded AI Builder credits retire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8778240" cy="548640"/>
          </a:xfrm>
          <a:prstGeom prst="roundRect">
            <a:avLst/>
          </a:prstGeom>
          <a:solidFill>
            <a:srgbClr val="F57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Seeded AI Builder credits end Nov 1, 2026 (or contract term) — with no automatic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ACC4"/>
                </a:solidFill>
                <a:latin typeface="Calibri"/>
              </a:rPr>
              <a:t>Open source · MIT · all numbers in this deck are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Calibri"/>
              </a:rPr>
              <a:t>There is no flat conversion — the capability decides the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0"/>
                </a:solidFill>
                <a:latin typeface="Calibri"/>
              </a:rPr>
              <a:t>What the same 1,000,000 AI Builder credits becomes in Copilot Credits: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12121"/>
                </a:solidFill>
                <a:latin typeface="Calibri"/>
              </a:rPr>
              <a:t>Object detection (the only 1:1)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760" y="1600200"/>
            <a:ext cx="6035040" cy="34747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39528" y="160934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1,000,000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12121"/>
                </a:solidFill>
                <a:latin typeface="Calibri"/>
              </a:rPr>
              <a:t>Invoice / receipt / ID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2148840"/>
            <a:ext cx="15087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13248" y="21579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250,000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2491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12121"/>
                </a:solidFill>
                <a:latin typeface="Calibri"/>
              </a:rPr>
              <a:t>Prompts — basic (blended)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2697480"/>
            <a:ext cx="502917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5" y="270662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≈ 83,300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735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12121"/>
                </a:solidFill>
                <a:latin typeface="Calibri"/>
              </a:rPr>
              <a:t>Custom document processing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3246120"/>
            <a:ext cx="482803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7291" y="325526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80,000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2219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12121"/>
                </a:solidFill>
                <a:latin typeface="Calibri"/>
              </a:rPr>
              <a:t>Text recognition (OCR)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3794760"/>
            <a:ext cx="201165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05653" y="380390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≈ 33,300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26280"/>
            <a:ext cx="11064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spcAft>
                <a:spcPts val="5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Microsoft publishes no conversion ratio between the two currencies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Per capability: factor = Copilot Credit rate ÷ AI Builder rate (×0.033 … ×1.0)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A flat ratio would mis-size badly — the tool re-rates every single event instead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212121"/>
                </a:solidFill>
                <a:latin typeface="Calibri"/>
              </a:rPr>
              <a:t>•  Rates live in versioned JSON config with source URLs — a Microsoft change is a config edit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copilot-credit-transition-sizer · synthetic demo data · not an official Microsoft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73952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Calibri"/>
              </a:rPr>
              <a:t>How the tool works — measured, not estimated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9456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Dataverse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AI Event table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(every AI run)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331720"/>
            <a:ext cx="640080" cy="10972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2103120"/>
            <a:ext cx="3017520" cy="155448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sizer (read-only)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tags currency per event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re-rates 100% into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Copilot Credits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2331720"/>
            <a:ext cx="640080" cy="10972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194560"/>
            <a:ext cx="3017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Sizing reports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per flow · per user · per env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→ packs to buy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37947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770"/>
                </a:solidFill>
                <a:latin typeface="Calibri"/>
              </a:rPr>
              <a:t>peak month + growth buffer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500" b="1">
                <a:solidFill>
                  <a:srgbClr val="065A82"/>
                </a:solidFill>
                <a:latin typeface="Calibri"/>
              </a:rPr>
              <a:t>Zero-config auth</a:t>
            </a:r>
          </a:p>
          <a:p>
            <a:r>
              <a:rPr sz="1200">
                <a:solidFill>
                  <a:srgbClr val="212121"/>
                </a:solidFill>
                <a:latin typeface="Calibri"/>
              </a:rPr>
              <a:t>az login as admin — no app registration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466344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500" b="1">
                <a:solidFill>
                  <a:srgbClr val="065A82"/>
                </a:solidFill>
                <a:latin typeface="Calibri"/>
              </a:rPr>
              <a:t>Read-only</a:t>
            </a:r>
          </a:p>
          <a:p>
            <a:r>
              <a:rPr sz="1200">
                <a:solidFill>
                  <a:srgbClr val="212121"/>
                </a:solidFill>
                <a:latin typeface="Calibri"/>
              </a:rPr>
              <a:t>GET requests only; nothing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466344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500" b="1">
                <a:solidFill>
                  <a:srgbClr val="065A82"/>
                </a:solidFill>
                <a:latin typeface="Calibri"/>
              </a:rPr>
              <a:t>Fallback without API</a:t>
            </a:r>
          </a:p>
          <a:p>
            <a:r>
              <a:rPr sz="1200">
                <a:solidFill>
                  <a:srgbClr val="212121"/>
                </a:solidFill>
                <a:latin typeface="Calibri"/>
              </a:rPr>
              <a:t>PPAC consumption-report CSV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copilot-credit-transition-sizer · synthetic demo data · not an official Microsoft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Calibri"/>
              </a:rPr>
              <a:t>The transition journey</a:t>
            </a:r>
          </a:p>
        </p:txBody>
      </p:sp>
      <p:sp>
        <p:nvSpPr>
          <p:cNvPr id="3" name="Chevron 2"/>
          <p:cNvSpPr/>
          <p:nvPr/>
        </p:nvSpPr>
        <p:spPr>
          <a:xfrm>
            <a:off x="411480" y="2651760"/>
            <a:ext cx="1874519" cy="960120"/>
          </a:xfrm>
          <a:prstGeom prst="chevron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794760"/>
            <a:ext cx="1828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770"/>
                </a:solidFill>
                <a:latin typeface="Calibri"/>
              </a:rPr>
              <a:t>run the sizer</a:t>
            </a:r>
          </a:p>
        </p:txBody>
      </p:sp>
      <p:sp>
        <p:nvSpPr>
          <p:cNvPr id="5" name="Chevron 4"/>
          <p:cNvSpPr/>
          <p:nvPr/>
        </p:nvSpPr>
        <p:spPr>
          <a:xfrm>
            <a:off x="2322576" y="2651760"/>
            <a:ext cx="1874519" cy="960120"/>
          </a:xfrm>
          <a:prstGeom prst="chevron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4016" y="3794760"/>
            <a:ext cx="1828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770"/>
                </a:solidFill>
                <a:latin typeface="Calibri"/>
              </a:rPr>
              <a:t>reconcile vs PPAC ±5%</a:t>
            </a:r>
          </a:p>
        </p:txBody>
      </p:sp>
      <p:sp>
        <p:nvSpPr>
          <p:cNvPr id="7" name="Chevron 6"/>
          <p:cNvSpPr/>
          <p:nvPr/>
        </p:nvSpPr>
        <p:spPr>
          <a:xfrm>
            <a:off x="4233672" y="2651760"/>
            <a:ext cx="1874519" cy="960120"/>
          </a:xfrm>
          <a:prstGeom prst="chevron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PURCHASE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5112" y="3794760"/>
            <a:ext cx="1828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770"/>
                </a:solidFill>
                <a:latin typeface="Calibri"/>
              </a:rPr>
              <a:t>buy packs (M365 admin)</a:t>
            </a:r>
          </a:p>
        </p:txBody>
      </p:sp>
      <p:sp>
        <p:nvSpPr>
          <p:cNvPr id="9" name="Chevron 8"/>
          <p:cNvSpPr/>
          <p:nvPr/>
        </p:nvSpPr>
        <p:spPr>
          <a:xfrm>
            <a:off x="6144768" y="2651760"/>
            <a:ext cx="1874519" cy="960120"/>
          </a:xfrm>
          <a:prstGeom prst="chevron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 ALLOCATE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7" y="3794760"/>
            <a:ext cx="1828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770"/>
                </a:solidFill>
                <a:latin typeface="Calibri"/>
              </a:rPr>
              <a:t>credits per environment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8055863" y="2651760"/>
            <a:ext cx="1874519" cy="960120"/>
          </a:xfrm>
          <a:prstGeom prst="chevron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3" y="3794760"/>
            <a:ext cx="1828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770"/>
                </a:solidFill>
                <a:latin typeface="Calibri"/>
              </a:rPr>
              <a:t>limits · alerts · PAYG net</a:t>
            </a:r>
          </a:p>
        </p:txBody>
      </p:sp>
      <p:sp>
        <p:nvSpPr>
          <p:cNvPr id="13" name="Chevron 12"/>
          <p:cNvSpPr/>
          <p:nvPr/>
        </p:nvSpPr>
        <p:spPr>
          <a:xfrm>
            <a:off x="9966959" y="2651760"/>
            <a:ext cx="1874519" cy="96012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 CUTOVER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399" y="3794760"/>
            <a:ext cx="1828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770"/>
                </a:solidFill>
                <a:latin typeface="Calibri"/>
              </a:rPr>
              <a:t>automatic — no rebuild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121"/>
                </a:solidFill>
                <a:latin typeface="Calibri"/>
              </a:rPr>
              <a:t>Apps and flows fall back to Copilot Credits automatically — the cutover is a licensing event, not a migration.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copilot-credit-transition-sizer · synthetic demo data · not an official Microsoft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73952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Calibri"/>
              </a:rPr>
              <a:t>Sample output (synthetic demo tenant)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64240" cy="3931920"/>
          </a:xfrm>
          <a:prstGeom prst="round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tIns="127000"/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D8E2EC"/>
                </a:solidFill>
                <a:latin typeface="Consolas"/>
              </a:rPr>
              <a:t>=== Copilot Credit Transition Sizing ===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D8E2EC"/>
                </a:solidFill>
                <a:latin typeface="Consolas"/>
              </a:rPr>
              <a:t>  contoso-demo-prod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D8E2EC"/>
                </a:solidFill>
                <a:latin typeface="Consolas"/>
              </a:rPr>
              <a:t>    peak month  : 2025-12  -&gt;  30,953 CC forecast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D8E2EC"/>
                </a:solidFill>
                <a:latin typeface="Consolas"/>
              </a:rPr>
              <a:t>    with buffer : 37,143 CC  -&gt;  2 pack(s)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D8E2EC"/>
                </a:solidFill>
                <a:latin typeface="Consolas"/>
              </a:rPr>
              <a:t>      - Invoice intake flow: ~7,133 CC/month (peak 24,000 in 2025-12)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D8E2EC"/>
                </a:solidFill>
                <a:latin typeface="Consolas"/>
              </a:rPr>
              <a:t>      - Same-credits demo: object detection: ~3,200 CC/month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D8E2EC"/>
                </a:solidFill>
                <a:latin typeface="Consolas"/>
              </a:rPr>
              <a:t>  contoso-demo-dev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D8E2EC"/>
                </a:solidFill>
                <a:latin typeface="Consolas"/>
              </a:rPr>
              <a:t>    peak month  : 2026-03  -&gt;  10,528 CC  -&gt;  1 pack(s)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D8E2EC"/>
                </a:solidFill>
                <a:latin typeface="Consolas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D8E2EC"/>
                </a:solidFill>
                <a:latin typeface="Consolas"/>
              </a:rPr>
              <a:t>  TENANT peak: 33,160 CC -&gt; +20% buffer -&gt; 2 pack(s) of 25,000 CC/month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D8E2EC"/>
                </a:solidFill>
                <a:latin typeface="Consolas"/>
              </a:rPr>
              <a:t>  Sum of per-environment packs: 3   (pooling saves 1 pack)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770"/>
                </a:solidFill>
                <a:latin typeface="Calibri"/>
              </a:rPr>
              <a:t>Full sample outputs ship in samples/sample-output: the Excel workbook (Summary · Per-Flow · Per-User · Per-Environment ·</a:t>
            </a:r>
          </a:p>
          <a:p>
            <a:pPr algn="l"/>
            <a:r>
              <a:rPr sz="1200" b="0">
                <a:solidFill>
                  <a:srgbClr val="5A6770"/>
                </a:solidFill>
                <a:latin typeface="Calibri"/>
              </a:rPr>
              <a:t>Per-Capability · Unmapped · How-it-is-calculated) and the executive markdown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copilot-credit-transition-sizer · synthetic demo data · not an official Microsoft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Calibri"/>
              </a:rPr>
              <a:t>The trust gate — validate before anyone buys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4206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sizer result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AI Builder credits per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environment, current month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103120"/>
            <a:ext cx="4206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PPAC consumption report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(Microsoft's own numbers,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admin download)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60" y="2514600"/>
            <a:ext cx="182880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5A6770"/>
                </a:solidFill>
                <a:latin typeface="Calibri"/>
              </a:rPr>
              <a:t>compare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3931920"/>
            <a:ext cx="338328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delta ≤ 5%  →  proceed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931920"/>
            <a:ext cx="3383280" cy="502920"/>
          </a:xfrm>
          <a:prstGeom prst="roundRect">
            <a:avLst/>
          </a:prstGeom>
          <a:solidFill>
            <a:srgbClr val="F57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delta &gt; 5%  →  FLAGGED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770"/>
                </a:solidFill>
                <a:latin typeface="Calibri"/>
              </a:rPr>
              <a:t>PPAC computation can lag 5+ days (Microsoft-documented) — the tool says so and recommends comparing a closed month.</a:t>
            </a:r>
          </a:p>
          <a:p>
            <a:pPr algn="ctr"/>
            <a:r>
              <a:rPr sz="1200" b="0">
                <a:solidFill>
                  <a:srgbClr val="5A6770"/>
                </a:solidFill>
                <a:latin typeface="Calibri"/>
              </a:rPr>
              <a:t>The sample data includes a deliberately lagging PPAC file so you can rehearse the flagged path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copilot-credit-transition-sizer · synthetic demo data · not an official Microsoft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Calibri"/>
              </a:rPr>
              <a:t>Get started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6949440" cy="2651760"/>
          </a:xfrm>
          <a:prstGeom prst="round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l">
              <a:spcAft>
                <a:spcPts val="300"/>
              </a:spcAft>
            </a:pPr>
            <a:r>
              <a:rPr sz="1300">
                <a:solidFill>
                  <a:srgbClr val="D8E2EC"/>
                </a:solidFill>
                <a:latin typeface="Consolas"/>
              </a:rPr>
              <a:t>git clone &lt;repo&gt; &amp;&amp; cd copilot-credit-transition-sizer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D8E2EC"/>
                </a:solidFill>
                <a:latin typeface="Consolas"/>
              </a:rPr>
              <a:t>npm ci &amp;&amp; npm run build &amp;&amp; npm test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D8E2EC"/>
                </a:solidFill>
                <a:latin typeface="Consolas"/>
              </a:rPr>
              <a:t>node tools/generate-demo-data.mjs          # rehearse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D8E2EC"/>
                </a:solidFill>
                <a:latin typeface="Consolas"/>
              </a:rPr>
              <a:t>node dist/cli.js --data-dir ./data-demo \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D8E2EC"/>
                </a:solidFill>
                <a:latin typeface="Consolas"/>
              </a:rPr>
              <a:t>     --out-dir ./output-demo forecast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D8E2EC"/>
                </a:solidFill>
                <a:latin typeface="Consolas"/>
              </a:rPr>
              <a:t>az login --allow-no-subscriptions          # real run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D8E2EC"/>
                </a:solidFill>
                <a:latin typeface="Consolas"/>
              </a:rPr>
              <a:t>node dist/cli.js ingest --auth azcli \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D8E2EC"/>
                </a:solidFill>
                <a:latin typeface="Consolas"/>
              </a:rPr>
              <a:t>     --environment https://org.crm.dynamics.com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280160"/>
            <a:ext cx="38404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l">
              <a:spcAft>
                <a:spcPts val="600"/>
              </a:spcAft>
            </a:pPr>
            <a:r>
              <a:rPr sz="1250">
                <a:solidFill>
                  <a:srgbClr val="212121"/>
                </a:solidFill>
                <a:latin typeface="Calibri"/>
              </a:rPr>
              <a:t>•  RUN-GUIDE.md — validated step-by-step</a:t>
            </a:r>
          </a:p>
          <a:p>
            <a:pPr algn="l">
              <a:spcAft>
                <a:spcPts val="600"/>
              </a:spcAft>
            </a:pPr>
            <a:r>
              <a:rPr sz="1250">
                <a:solidFill>
                  <a:srgbClr val="212121"/>
                </a:solidFill>
                <a:latin typeface="Calibri"/>
              </a:rPr>
              <a:t>•  docs/solution-architecture.html — full design</a:t>
            </a:r>
          </a:p>
          <a:p>
            <a:pPr algn="l">
              <a:spcAft>
                <a:spcPts val="600"/>
              </a:spcAft>
            </a:pPr>
            <a:r>
              <a:rPr sz="1250">
                <a:solidFill>
                  <a:srgbClr val="212121"/>
                </a:solidFill>
                <a:latin typeface="Calibri"/>
              </a:rPr>
              <a:t>•  README — Microsoft Learn citations + rate-refresh guide</a:t>
            </a:r>
          </a:p>
          <a:p>
            <a:pPr algn="l">
              <a:spcAft>
                <a:spcPts val="600"/>
              </a:spcAft>
            </a:pPr>
            <a:r>
              <a:rPr sz="1250">
                <a:solidFill>
                  <a:srgbClr val="212121"/>
                </a:solidFill>
                <a:latin typeface="Calibri"/>
              </a:rPr>
              <a:t>•  samples/ — data, reports, this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89120"/>
            <a:ext cx="1106424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57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Disclaimer: estimates only — not an official Microsoft solution. Verify every figure against the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Calibri"/>
              </a:rPr>
              <a:t>Microsoft Power Platform Licensing Guide and the Copilot Credit Guide before purchasing.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770"/>
                </a:solidFill>
                <a:latin typeface="Calibri"/>
              </a:rPr>
              <a:t>copilot-credit-transition-sizer · synthetic demo data · not an official Microsoft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7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